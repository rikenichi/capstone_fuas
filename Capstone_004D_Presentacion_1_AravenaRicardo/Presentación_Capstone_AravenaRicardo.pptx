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pn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28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Gancho: Este proyecto convierte un prototipo de minería de datos en una plataforma analítica reproducible sobre beneficios estudiantiles de educación superior (incluye gratuidad y FSCU, no solo becas). Es individual y parte de un trabajo previo que profesionalizo y corrijo metodológicamente.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segundos, solo para orientar a la comisión.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Planto desde el inicio la transparencia sobre el origen: es una fortaleza, no algo que esconder. No gasto más de 15-20 seg en la coautoría para no parecer que me justifico.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Doy escala y muestro que trabajo con datos reales, no de juguete. El 44,06% lo digo con cuidado: 'registra beneficio asignado en la base analizada', sin sobreinterpretar.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Enfatizo 'asociados, no causantes'. Esa palabra me blinda de la mitad de las preguntas difíciles. Nota: NO afirmo que 'no existe herramienta' — solo que la exploración conjunta requiere procesos técnicos previos.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delimitación es clave: dejo claro qué NO es el proyecto. Muestro los tres ejes como bloques iguales visualmente.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invento estructura de equipo ficticia: es individual, así que hablo de responsabilidades que asumo. Menciono que el desarrollo es incremental.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clave: 'Una diferencia central del Capstone respecto del prototipo es el aumento del rigor metodológico.' Este slide es la mejor defensa preventiva a la pregunta '¿esto no lo hiciste ya en Minería de Datos?'. Solo 4 correcciones, no las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Justifico por qué Streamlit y no microservicios: la arquitectura debe ser proporcional al problema. Destaco que MRUN se elimina en la capa analítica.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Conecto cada competencia con un entregable concreto. No vendo C5 como lograda: depende de lo que defina la asignatura.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riesgos es señal de madurez de gestión (C2). Data leakage es más técnico y útil como riesgo que 'circularidad', que ya aparece en el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Demuestro conciencia ética/de privacidad. Reconozco que MRUN ya viene enmascarado; mi exclusión es una capa adicional de minimización.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Mantengo el título literal 'Modelo de negocio' que puso el profesor, pero soy honesto: no hay monetización. El valor es analítico y social. No finjo ingresos.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Aclaro que es un mockup prospectivo de Fase 2, no la app terminada. Que sea diseño no le resta valor: muestra que ya visualicé 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la frase de madurez. Dejo este slide puesto para las preguntas (no hay slide separado de 'Gracias').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org&amp;utm_campaign=index&amp;utm_content=original"/><Relationship Id="rId3" Type="http://schemas.openxmlformats.org/officeDocument/2006/relationships/image" Target="../media/image2.org&amp;utm_campaign=index&amp;utm_content=thumbnai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.jpeg"/><Relationship Id="rId4" Type="http://schemas.openxmlformats.org/officeDocument/2006/relationships/image" Target="../media/image3.org&amp;utm_campaign=index&amp;utm_content=thumbnai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200" noProof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CAPSTONE (PTY 4614)</a:t>
            </a:r>
            <a:endParaRPr lang="es-CL" sz="14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33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analítica para la identificación de patrones y perfiles asociados a beneficios estudiantiles de educación superior en Chile</a:t>
            </a:r>
            <a:endParaRPr lang="es-CL" sz="33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i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abiertos del MINEDUC (FUAS 2025) mediante minería de datos y aprendizaje automático</a:t>
            </a:r>
            <a:endParaRPr lang="es-CL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2926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Ricardo Aravena Celis</a:t>
            </a:r>
            <a:r>
              <a:rPr lang="es-CL" sz="140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s-CL" sz="1400" b="1" dirty="0">
                <a:solidFill>
                  <a:schemeClr val="bg1"/>
                </a:solidFill>
              </a:rPr>
              <a:t>Profesor: Aldo Martínez Órdenes</a:t>
            </a:r>
            <a:endParaRPr lang="es-CL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Fase 1 — Definición del Proyecto APT   ·   Modalidad individual</a:t>
            </a:r>
            <a:endParaRPr lang="es-CL" sz="1200" b="1" noProof="0" dirty="0">
              <a:solidFill>
                <a:srgbClr val="FFC000"/>
              </a:solidFill>
            </a:endParaRPr>
          </a:p>
        </p:txBody>
      </p:sp>
      <p:pic>
        <p:nvPicPr>
          <p:cNvPr id="10" name="Imagen 9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59108554-6E6E-56B1-EC6F-1B8FEA13D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s-CL" sz="3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CL" sz="20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CL" sz="1600" b="1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CL" sz="2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s-CL" sz="1600" b="1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CL" sz="20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712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s-CL" sz="1500" b="1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95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CL" sz="20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s-CL" sz="1600" b="1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CL" sz="20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/ Plan / Responsabilidades</a:t>
            </a:r>
            <a:endParaRPr lang="es-CL" sz="1600" b="1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46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CL" sz="20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prototipo</a:t>
            </a:r>
            <a:endParaRPr lang="es-CL" sz="1600" b="1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04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CL" sz="20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504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</a:t>
            </a: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</a:t>
            </a:r>
            <a:r>
              <a:rPr lang="es-CL" sz="15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Arquitectura</a:t>
            </a:r>
            <a:endParaRPr lang="es-CL" sz="1500" b="1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CL" sz="20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</a:t>
            </a:r>
            <a:endParaRPr lang="es-CL" sz="1600" b="1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212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CL" sz="20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s-CL" sz="1600" b="1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CL" sz="20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8712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manejo de datos</a:t>
            </a:r>
            <a:endParaRPr lang="es-CL" sz="1600" b="1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5295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CL" sz="20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529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/ Propuesta de valor</a:t>
            </a:r>
            <a:endParaRPr lang="es-CL" sz="1600" b="1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CL" sz="200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del </a:t>
            </a:r>
            <a:r>
              <a:rPr lang="es-CL" sz="16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s-CL" sz="1600" b="1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846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s-CL" sz="20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s-CL" sz="1500" b="1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100" noProof="0" dirty="0"/>
          </a:p>
        </p:txBody>
      </p:sp>
      <p:pic>
        <p:nvPicPr>
          <p:cNvPr id="32" name="Imagen 31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95E6E1C4-EBC5-1BBE-EB34-2B849C56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prototipo a una solución de software</a:t>
            </a:r>
            <a:endParaRPr lang="es-CL" sz="3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es. </a:t>
            </a:r>
            <a:r>
              <a:rPr lang="es-CL" sz="16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analítica sobre datos abiertos del MINEDUC (FUAS 2025) para explorar patrones y perfiles asociados a los beneficios estudiantiles de educación superior.</a:t>
            </a:r>
            <a:endParaRPr lang="es-CL" sz="16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Origen. </a:t>
            </a:r>
            <a:r>
              <a:rPr lang="es-CL" sz="16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de un prototipo académico previo de Minería de Datos (coautoría, BIY7121), que en </a:t>
            </a:r>
            <a:r>
              <a:rPr lang="es-CL" sz="1600" noProof="0" dirty="0" err="1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CL" sz="16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transforma individualmente en una solución reproducible y metodológicamente revisada.</a:t>
            </a:r>
            <a:endParaRPr lang="es-CL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7040880" y="160020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</a:t>
            </a:r>
            <a:endParaRPr lang="es-CL" sz="1400" noProof="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Minería de Datos</a:t>
            </a:r>
            <a:endParaRPr lang="es-CL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i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/ prueba de concepto</a:t>
            </a:r>
            <a:endParaRPr lang="es-CL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7498080" y="3246120"/>
            <a:ext cx="0" cy="45720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s-CL" sz="15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4206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300" i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 software reproducible, verificable y defendible</a:t>
            </a:r>
            <a:endParaRPr lang="es-CL" sz="13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100" noProof="0" dirty="0"/>
          </a:p>
        </p:txBody>
      </p:sp>
      <p:pic>
        <p:nvPicPr>
          <p:cNvPr id="15" name="Imagen 14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300F94FF-C86B-C781-F3A1-670F1F7C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CONTEXTO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FUAS en cifras reales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641.591</a:t>
            </a:r>
            <a:endParaRPr lang="es-CL" sz="3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2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postulantes integrados (FUAS 2025)</a:t>
            </a:r>
            <a:endParaRPr lang="es-CL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3502152" y="173736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3639312" y="19933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748.551</a:t>
            </a:r>
            <a:endParaRPr lang="es-CL" sz="30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2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asignación de beneficios</a:t>
            </a:r>
            <a:endParaRPr lang="es-CL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364224" y="173736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6501384" y="19933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fuentes</a:t>
            </a:r>
            <a:endParaRPr lang="es-CL" sz="30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6547104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2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oficiales MINEDUC cruzadas por MRUN</a:t>
            </a:r>
            <a:endParaRPr lang="es-CL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9226296" y="173736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9363456" y="19933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0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44,06%</a:t>
            </a:r>
            <a:endParaRPr lang="es-CL" sz="30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9409176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2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postulantes integrados registra beneficio asignado</a:t>
            </a:r>
            <a:endParaRPr lang="es-CL" sz="125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5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FUAS es el mecanismo oficial de postulación al financiamiento de educación superior en Chile. Los datos son públicos, pero se publican en fuentes separadas y en formatos heterogéneos.</a:t>
            </a:r>
            <a:endParaRPr lang="es-CL" sz="15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100" noProof="0" dirty="0"/>
          </a:p>
        </p:txBody>
      </p:sp>
      <p:pic>
        <p:nvPicPr>
          <p:cNvPr id="19" name="Imagen 18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67C54786-A467-32BD-0DDF-36F780117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PROBLEMÁTICA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dispersos a exploración reproducible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852160" cy="658368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6459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publicados en fuentes separadas</a:t>
            </a:r>
            <a:endParaRPr lang="es-CL" sz="1450" noProof="0" dirty="0"/>
          </a:p>
        </p:txBody>
      </p:sp>
      <p:sp>
        <p:nvSpPr>
          <p:cNvPr id="6" name="Shape 4"/>
          <p:cNvSpPr/>
          <p:nvPr/>
        </p:nvSpPr>
        <p:spPr>
          <a:xfrm>
            <a:off x="3566160" y="2304288"/>
            <a:ext cx="0" cy="201168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5852160" cy="658368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0545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integración, limpieza y transformación</a:t>
            </a:r>
            <a:endParaRPr lang="es-CL" sz="1450" noProof="0" dirty="0"/>
          </a:p>
        </p:txBody>
      </p:sp>
      <p:sp>
        <p:nvSpPr>
          <p:cNvPr id="9" name="Shape 7"/>
          <p:cNvSpPr/>
          <p:nvPr/>
        </p:nvSpPr>
        <p:spPr>
          <a:xfrm>
            <a:off x="3566160" y="3163824"/>
            <a:ext cx="0" cy="201168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5852160" cy="658368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64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 exploraciones reproducibles</a:t>
            </a:r>
            <a:endParaRPr lang="es-CL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3566160" y="4023360"/>
            <a:ext cx="0" cy="201168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5852160" cy="658368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245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una herramienta analítica integrada</a:t>
            </a:r>
            <a:endParaRPr lang="es-CL" sz="1450" noProof="0" dirty="0"/>
          </a:p>
        </p:txBody>
      </p:sp>
      <p:sp>
        <p:nvSpPr>
          <p:cNvPr id="15" name="Shape 13"/>
          <p:cNvSpPr/>
          <p:nvPr/>
        </p:nvSpPr>
        <p:spPr>
          <a:xfrm>
            <a:off x="6858000" y="2194560"/>
            <a:ext cx="4663440" cy="2651760"/>
          </a:xfrm>
          <a:prstGeom prst="roundRect">
            <a:avLst>
              <a:gd name="adj" fmla="val 275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GUÍA</a:t>
            </a:r>
            <a:endParaRPr lang="es-CL" sz="12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8346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s-CL" sz="1700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patrones y perfiles socioeconómicos y académicos se encuentran asociados a la asignación de beneficios estudiantiles, y cómo pueden explorarse de forma reproducible?</a:t>
            </a:r>
            <a:endParaRPr lang="es-CL" sz="17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1100" noProof="0" dirty="0"/>
          </a:p>
        </p:txBody>
      </p:sp>
      <p:pic>
        <p:nvPicPr>
          <p:cNvPr id="20" name="Imagen 19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71AB40E1-2A55-D241-4B45-98A41B256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SOLUCIÓN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analítica en tres ejes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CL" sz="18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s-CL" sz="155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s-CL" sz="13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y tasas observadas por quintil, región, dependencia, edad y NEM.</a:t>
            </a:r>
            <a:endParaRPr lang="es-CL" sz="1350" noProof="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CL" sz="18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endParaRPr lang="es-CL" sz="155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651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s-CL" sz="13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(</a:t>
            </a:r>
            <a:r>
              <a:rPr lang="es-CL" sz="1350" noProof="0" dirty="0" err="1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3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caracterizar perfiles de postulantes.</a:t>
            </a:r>
            <a:endParaRPr lang="es-CL" sz="1350" noProof="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8503920" y="20116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CL" sz="18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+ Explicabilidad</a:t>
            </a:r>
            <a:endParaRPr lang="es-CL" sz="155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651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s-CL" sz="135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como eje principal y regresión como análisis complementario; SHAP para interpretarlos.</a:t>
            </a:r>
            <a:endParaRPr lang="es-CL" sz="135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s-CL" sz="1100" noProof="0" dirty="0"/>
          </a:p>
        </p:txBody>
      </p:sp>
      <p:sp>
        <p:nvSpPr>
          <p:cNvPr id="21" name="Shape 19"/>
          <p:cNvSpPr/>
          <p:nvPr/>
        </p:nvSpPr>
        <p:spPr>
          <a:xfrm>
            <a:off x="3520440" y="43434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</a:t>
            </a:r>
            <a:endParaRPr lang="es-CL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6400800" y="43434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s-CL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8915400" y="434340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s-CL" sz="1100" noProof="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8F0F5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9834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Delimitación:  </a:t>
            </a:r>
            <a:r>
              <a:rPr lang="es-CL" sz="140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analítico y descriptivo. No determina elegibilidad ni adjudicación de beneficios.</a:t>
            </a:r>
            <a:endParaRPr lang="es-CL" sz="14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L" sz="1100" noProof="0" dirty="0"/>
          </a:p>
        </p:txBody>
      </p:sp>
      <p:pic>
        <p:nvPicPr>
          <p:cNvPr id="31" name="Imagen 30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78257365-7779-E395-1AA6-DEEB5DE4A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METODOLOGÍA · PLAN · RESPONSABILIDADES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CRISP-DM, gestión y desarrollo individual</a:t>
            </a:r>
            <a:endParaRPr lang="es-CL" sz="3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 — CRISP-DM + gestión Kanban (referencia PMBOK)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s-CL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1920240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1975104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975104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s-CL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3255264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3310128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s-CL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4590288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4645152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s-CL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5925312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/>
          <p:cNvSpPr/>
          <p:nvPr/>
        </p:nvSpPr>
        <p:spPr>
          <a:xfrm>
            <a:off x="5980176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5980176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s-CL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7260336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7315200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s-CL" sz="1150" noProof="0" dirty="0"/>
          </a:p>
        </p:txBody>
      </p:sp>
      <p:sp>
        <p:nvSpPr>
          <p:cNvPr id="22" name="Shape 20"/>
          <p:cNvSpPr/>
          <p:nvPr/>
        </p:nvSpPr>
        <p:spPr>
          <a:xfrm>
            <a:off x="8595360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Shape 21"/>
          <p:cNvSpPr/>
          <p:nvPr/>
        </p:nvSpPr>
        <p:spPr>
          <a:xfrm>
            <a:off x="8650224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8650224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s-CL" sz="1150" noProof="0" dirty="0"/>
          </a:p>
        </p:txBody>
      </p:sp>
      <p:sp>
        <p:nvSpPr>
          <p:cNvPr id="25" name="Shape 23"/>
          <p:cNvSpPr/>
          <p:nvPr/>
        </p:nvSpPr>
        <p:spPr>
          <a:xfrm>
            <a:off x="9930384" y="2286000"/>
            <a:ext cx="54864" cy="0"/>
          </a:xfrm>
          <a:prstGeom prst="line">
            <a:avLst/>
          </a:prstGeom>
          <a:noFill/>
          <a:ln w="1905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Shape 24"/>
          <p:cNvSpPr/>
          <p:nvPr/>
        </p:nvSpPr>
        <p:spPr>
          <a:xfrm>
            <a:off x="9985248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9985248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s-CL" sz="115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743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i="1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incremental: </a:t>
            </a:r>
            <a:r>
              <a:rPr lang="es-CL" sz="1400" i="1" noProof="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CL" sz="1400" i="1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mínimo desde la semana 7, no toda la integración al final.</a:t>
            </a:r>
            <a:endParaRPr lang="es-CL" sz="14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337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1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DEL DESARROLLO INDIVIDUAL</a:t>
            </a:r>
            <a:endParaRPr lang="es-CL" sz="1400" noProof="0" dirty="0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2084832" cy="128016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 txBox="1"/>
          <p:nvPr/>
        </p:nvSpPr>
        <p:spPr>
          <a:xfrm>
            <a:off x="826008" y="3886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planificación</a:t>
            </a:r>
            <a:endParaRPr lang="es-CL" sz="1300" noProof="0" dirty="0"/>
          </a:p>
        </p:txBody>
      </p:sp>
      <p:sp>
        <p:nvSpPr>
          <p:cNvPr id="32" name="Shape 30"/>
          <p:cNvSpPr/>
          <p:nvPr/>
        </p:nvSpPr>
        <p:spPr>
          <a:xfrm>
            <a:off x="2834640" y="3749040"/>
            <a:ext cx="2084832" cy="128016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Text 31"/>
          <p:cNvSpPr txBox="1"/>
          <p:nvPr/>
        </p:nvSpPr>
        <p:spPr>
          <a:xfrm>
            <a:off x="2971800" y="3886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/ preparación de datos</a:t>
            </a:r>
            <a:endParaRPr lang="es-CL" sz="1300" noProof="0" dirty="0"/>
          </a:p>
        </p:txBody>
      </p:sp>
      <p:sp>
        <p:nvSpPr>
          <p:cNvPr id="34" name="Shape 32"/>
          <p:cNvSpPr/>
          <p:nvPr/>
        </p:nvSpPr>
        <p:spPr>
          <a:xfrm>
            <a:off x="5029200" y="3749040"/>
            <a:ext cx="2084832" cy="128016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3886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evaluación</a:t>
            </a:r>
            <a:endParaRPr lang="es-CL" sz="1300" noProof="0" dirty="0"/>
          </a:p>
        </p:txBody>
      </p:sp>
      <p:sp>
        <p:nvSpPr>
          <p:cNvPr id="36" name="Shape 34"/>
          <p:cNvSpPr/>
          <p:nvPr/>
        </p:nvSpPr>
        <p:spPr>
          <a:xfrm>
            <a:off x="7223760" y="3749040"/>
            <a:ext cx="2084832" cy="128016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3886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</a:t>
            </a:r>
            <a:r>
              <a:rPr lang="es-CL" sz="13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s-CL" sz="1300" noProof="0" dirty="0"/>
          </a:p>
        </p:txBody>
      </p:sp>
      <p:sp>
        <p:nvSpPr>
          <p:cNvPr id="38" name="Shape 36"/>
          <p:cNvSpPr/>
          <p:nvPr/>
        </p:nvSpPr>
        <p:spPr>
          <a:xfrm>
            <a:off x="9418320" y="3749040"/>
            <a:ext cx="2084832" cy="128016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Text 37"/>
          <p:cNvSpPr txBox="1"/>
          <p:nvPr/>
        </p:nvSpPr>
        <p:spPr>
          <a:xfrm>
            <a:off x="9555480" y="38862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documentación</a:t>
            </a:r>
            <a:endParaRPr lang="es-CL" sz="1300" noProof="0" dirty="0"/>
          </a:p>
        </p:txBody>
      </p:sp>
      <p:sp>
        <p:nvSpPr>
          <p:cNvPr id="40" name="Text 38"/>
          <p:cNvSpPr txBox="1"/>
          <p:nvPr/>
        </p:nvSpPr>
        <p:spPr>
          <a:xfrm>
            <a:off x="65532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definición (</a:t>
            </a:r>
            <a:r>
              <a:rPr lang="es-CL" sz="1300" noProof="0" dirty="0" err="1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s-CL" sz="13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1–4)   ·   Fase 2: desarrollo (</a:t>
            </a:r>
            <a:r>
              <a:rPr lang="es-CL" sz="1300" noProof="0" dirty="0" err="1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s-CL" sz="13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5–15)   ·   Fase 3: presentación (</a:t>
            </a:r>
            <a:r>
              <a:rPr lang="es-CL" sz="1300" noProof="0" dirty="0" err="1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s-CL" sz="13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16–18)</a:t>
            </a:r>
            <a:endParaRPr lang="es-CL" sz="1300" noProof="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1100" noProof="0" dirty="0"/>
          </a:p>
        </p:txBody>
      </p:sp>
      <p:pic>
        <p:nvPicPr>
          <p:cNvPr id="44" name="Imagen 43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8DE0AA76-F490-87BF-A03B-ECE8AEC07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EVOLUCIÓN DEL PROTOTIPO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94561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aporta el </a:t>
            </a:r>
            <a:r>
              <a:rPr lang="es-CL" sz="30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r>
              <a:rPr lang="es-CL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respecto del </a:t>
            </a:r>
          </a:p>
          <a:p>
            <a:pPr marL="0" indent="0">
              <a:buNone/>
            </a:pPr>
            <a:r>
              <a:rPr lang="es-CL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anterior</a:t>
            </a:r>
            <a:endParaRPr lang="es-CL" sz="3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173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100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s-CL" sz="1400" noProof="0" dirty="0">
              <a:solidFill>
                <a:srgbClr val="FFC00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385560" y="182690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100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s-CL" sz="1400" noProof="0" dirty="0">
              <a:solidFill>
                <a:srgbClr val="FFC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9424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Interpretaciones causales</a:t>
            </a:r>
            <a:endParaRPr lang="es-CL" sz="1600" b="1" noProof="0" dirty="0"/>
          </a:p>
        </p:txBody>
      </p:sp>
      <p:sp>
        <p:nvSpPr>
          <p:cNvPr id="8" name="Shape 6"/>
          <p:cNvSpPr/>
          <p:nvPr/>
        </p:nvSpPr>
        <p:spPr>
          <a:xfrm>
            <a:off x="5821680" y="2490791"/>
            <a:ext cx="54864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6385560" y="2249424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262191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/ capacidad predictiva</a:t>
            </a:r>
            <a:endParaRPr lang="es-CL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18688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circular del clasificador</a:t>
            </a:r>
            <a:endParaRPr lang="es-CL" sz="1600" b="1" noProof="0" dirty="0"/>
          </a:p>
        </p:txBody>
      </p:sp>
      <p:sp>
        <p:nvSpPr>
          <p:cNvPr id="13" name="Shape 11"/>
          <p:cNvSpPr/>
          <p:nvPr/>
        </p:nvSpPr>
        <p:spPr>
          <a:xfrm>
            <a:off x="5821680" y="3460055"/>
            <a:ext cx="54864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6385560" y="3218688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231455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analítica, no adjudicación</a:t>
            </a:r>
            <a:endParaRPr lang="es-CL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87952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asumido</a:t>
            </a:r>
            <a:endParaRPr lang="es-CL" sz="1600" b="1" noProof="0" dirty="0"/>
          </a:p>
        </p:txBody>
      </p:sp>
      <p:sp>
        <p:nvSpPr>
          <p:cNvPr id="18" name="Shape 16"/>
          <p:cNvSpPr/>
          <p:nvPr/>
        </p:nvSpPr>
        <p:spPr>
          <a:xfrm>
            <a:off x="5821680" y="4429319"/>
            <a:ext cx="54864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6385560" y="4187952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200719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6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Reevaluación: </a:t>
            </a:r>
            <a:r>
              <a:rPr lang="es-CL" sz="1600" b="1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s-CL" sz="16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CL" sz="1600" b="1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s-CL" sz="16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600" b="1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r>
              <a:rPr lang="es-CL" sz="16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CL" sz="1600" b="1" dirty="0">
                <a:solidFill>
                  <a:schemeClr val="bg1"/>
                </a:solidFill>
              </a:rPr>
              <a:t>ajuste de umbral</a:t>
            </a:r>
            <a:endParaRPr lang="es-CL" sz="1600" b="1" noProof="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157216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157216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previas reutilizadas</a:t>
            </a:r>
            <a:endParaRPr lang="es-CL" sz="1600" b="1" noProof="0" dirty="0"/>
          </a:p>
        </p:txBody>
      </p:sp>
      <p:sp>
        <p:nvSpPr>
          <p:cNvPr id="23" name="Shape 21"/>
          <p:cNvSpPr/>
          <p:nvPr/>
        </p:nvSpPr>
        <p:spPr>
          <a:xfrm>
            <a:off x="5821680" y="5398583"/>
            <a:ext cx="54864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6385560" y="5157216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5169983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Reejecución</a:t>
            </a: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validación con nuevo pipeline</a:t>
            </a:r>
            <a:endParaRPr lang="es-CL" sz="160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CL" sz="1100" noProof="0" dirty="0"/>
          </a:p>
        </p:txBody>
      </p:sp>
      <p:pic>
        <p:nvPicPr>
          <p:cNvPr id="28" name="Imagen 27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6A8A7864-9113-C0D5-6924-60C2BB34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MAPA TECNOLÓGICO · ARQUITECTURA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CSV crudo al </a:t>
            </a:r>
            <a:r>
              <a:rPr lang="es-CL" sz="3000" b="1" noProof="0" dirty="0" err="1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002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MINEDUC   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Postulaciones CSV + Asignaciones CSV</a:t>
            </a:r>
            <a:endParaRPr lang="es-CL" sz="1350" noProof="0" dirty="0"/>
          </a:p>
        </p:txBody>
      </p:sp>
      <p:sp>
        <p:nvSpPr>
          <p:cNvPr id="6" name="Shape 4"/>
          <p:cNvSpPr/>
          <p:nvPr/>
        </p:nvSpPr>
        <p:spPr>
          <a:xfrm>
            <a:off x="3383280" y="2203704"/>
            <a:ext cx="0" cy="82296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860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  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originales sin transformar</a:t>
            </a:r>
            <a:endParaRPr lang="es-CL" sz="1350" noProof="0" dirty="0"/>
          </a:p>
        </p:txBody>
      </p:sp>
      <p:sp>
        <p:nvSpPr>
          <p:cNvPr id="9" name="Shape 7"/>
          <p:cNvSpPr/>
          <p:nvPr/>
        </p:nvSpPr>
        <p:spPr>
          <a:xfrm>
            <a:off x="3383280" y="2889504"/>
            <a:ext cx="0" cy="82296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71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</a:t>
            </a:r>
            <a:r>
              <a:rPr lang="es-CL" sz="13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por MRUN (clave técnica)</a:t>
            </a:r>
            <a:endParaRPr lang="es-CL" sz="1350" noProof="0" dirty="0"/>
          </a:p>
        </p:txBody>
      </p:sp>
      <p:sp>
        <p:nvSpPr>
          <p:cNvPr id="12" name="Shape 10"/>
          <p:cNvSpPr/>
          <p:nvPr/>
        </p:nvSpPr>
        <p:spPr>
          <a:xfrm>
            <a:off x="3383280" y="3575304"/>
            <a:ext cx="0" cy="82296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6576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analítica   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MRUN eliminado · preparada para nuevos periodos</a:t>
            </a:r>
            <a:endParaRPr lang="es-CL" sz="1350" noProof="0" dirty="0"/>
          </a:p>
        </p:txBody>
      </p:sp>
      <p:sp>
        <p:nvSpPr>
          <p:cNvPr id="15" name="Shape 13"/>
          <p:cNvSpPr/>
          <p:nvPr/>
        </p:nvSpPr>
        <p:spPr>
          <a:xfrm>
            <a:off x="3383280" y="4261104"/>
            <a:ext cx="0" cy="82296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3434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ML   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</a:t>
            </a:r>
            <a:r>
              <a:rPr lang="es-CL" sz="1150" noProof="0" dirty="0" err="1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Clasificación · SHAP</a:t>
            </a:r>
            <a:endParaRPr lang="es-CL" sz="1350" noProof="0" dirty="0"/>
          </a:p>
        </p:txBody>
      </p:sp>
      <p:sp>
        <p:nvSpPr>
          <p:cNvPr id="18" name="Shape 16"/>
          <p:cNvSpPr/>
          <p:nvPr/>
        </p:nvSpPr>
        <p:spPr>
          <a:xfrm>
            <a:off x="3383280" y="4946904"/>
            <a:ext cx="0" cy="82296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  <a:tailEnd type="triangl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822960" y="5029200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3AA6A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0292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35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CL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s-CL" sz="11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· Perfiles · Modelos · Explicabilidad</a:t>
            </a:r>
            <a:endParaRPr lang="es-CL" sz="1350" noProof="0" dirty="0"/>
          </a:p>
        </p:txBody>
      </p:sp>
      <p:sp>
        <p:nvSpPr>
          <p:cNvPr id="21" name="Shape 19"/>
          <p:cNvSpPr/>
          <p:nvPr/>
        </p:nvSpPr>
        <p:spPr>
          <a:xfrm>
            <a:off x="6492240" y="1600200"/>
            <a:ext cx="4846320" cy="4023360"/>
          </a:xfrm>
          <a:prstGeom prst="roundRect">
            <a:avLst>
              <a:gd name="adj" fmla="val 1364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s-CL" sz="1200" noProof="0" dirty="0"/>
          </a:p>
        </p:txBody>
      </p:sp>
      <p:sp>
        <p:nvSpPr>
          <p:cNvPr id="23" name="Shape 21"/>
          <p:cNvSpPr/>
          <p:nvPr/>
        </p:nvSpPr>
        <p:spPr>
          <a:xfrm>
            <a:off x="6766560" y="2286000"/>
            <a:ext cx="102932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286000"/>
            <a:ext cx="10293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s-CL" sz="1300" noProof="0" dirty="0"/>
          </a:p>
        </p:txBody>
      </p:sp>
      <p:sp>
        <p:nvSpPr>
          <p:cNvPr id="25" name="Shape 23"/>
          <p:cNvSpPr/>
          <p:nvPr/>
        </p:nvSpPr>
        <p:spPr>
          <a:xfrm>
            <a:off x="9006840" y="2286000"/>
            <a:ext cx="984379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9006841" y="2286000"/>
            <a:ext cx="808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s-CL" sz="1300" noProof="0" dirty="0"/>
          </a:p>
        </p:txBody>
      </p:sp>
      <p:sp>
        <p:nvSpPr>
          <p:cNvPr id="27" name="Shape 25"/>
          <p:cNvSpPr/>
          <p:nvPr/>
        </p:nvSpPr>
        <p:spPr>
          <a:xfrm>
            <a:off x="6766560" y="2944368"/>
            <a:ext cx="102932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944368"/>
            <a:ext cx="10293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s-CL" sz="1300" noProof="0" dirty="0"/>
          </a:p>
        </p:txBody>
      </p:sp>
      <p:sp>
        <p:nvSpPr>
          <p:cNvPr id="29" name="Shape 27"/>
          <p:cNvSpPr/>
          <p:nvPr/>
        </p:nvSpPr>
        <p:spPr>
          <a:xfrm>
            <a:off x="9006840" y="2944368"/>
            <a:ext cx="9843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2944368"/>
            <a:ext cx="911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s-CL" sz="1300" noProof="0" dirty="0"/>
          </a:p>
        </p:txBody>
      </p:sp>
      <p:sp>
        <p:nvSpPr>
          <p:cNvPr id="31" name="Shape 29"/>
          <p:cNvSpPr/>
          <p:nvPr/>
        </p:nvSpPr>
        <p:spPr>
          <a:xfrm>
            <a:off x="6766560" y="3602736"/>
            <a:ext cx="102932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602736"/>
            <a:ext cx="10293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s-CL" sz="1300" noProof="0" dirty="0"/>
          </a:p>
        </p:txBody>
      </p:sp>
      <p:sp>
        <p:nvSpPr>
          <p:cNvPr id="33" name="Shape 31"/>
          <p:cNvSpPr/>
          <p:nvPr/>
        </p:nvSpPr>
        <p:spPr>
          <a:xfrm>
            <a:off x="9006840" y="3602736"/>
            <a:ext cx="9843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602736"/>
            <a:ext cx="984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s-CL" sz="1300" noProof="0" dirty="0"/>
          </a:p>
        </p:txBody>
      </p:sp>
      <p:sp>
        <p:nvSpPr>
          <p:cNvPr id="35" name="Shape 33"/>
          <p:cNvSpPr/>
          <p:nvPr/>
        </p:nvSpPr>
        <p:spPr>
          <a:xfrm>
            <a:off x="6766560" y="4261104"/>
            <a:ext cx="102932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 txBox="1"/>
          <p:nvPr/>
        </p:nvSpPr>
        <p:spPr>
          <a:xfrm>
            <a:off x="6766560" y="4261104"/>
            <a:ext cx="10293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s-CL" sz="1300" noProof="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5074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CL" sz="1250" b="1" i="1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proporcional al problema</a:t>
            </a:r>
            <a:r>
              <a:rPr lang="es-CL" sz="1250" i="1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L" sz="1250" i="1" noProof="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s-CL" sz="1250" i="1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microservicios.</a:t>
            </a:r>
            <a:endParaRPr lang="es-CL" sz="1250" noProof="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L" sz="1100" noProof="0" dirty="0"/>
          </a:p>
        </p:txBody>
      </p:sp>
      <p:pic>
        <p:nvPicPr>
          <p:cNvPr id="39" name="Imagen 38" descr="Archivo:Python-logo-notext.svg - Wikipedia, la enciclopedia libre">
            <a:extLst>
              <a:ext uri="{FF2B5EF4-FFF2-40B4-BE49-F238E27FC236}">
                <a16:creationId xmlns:a16="http://schemas.microsoft.com/office/drawing/2014/main" id="{892A919F-029D-27B4-7D19-0CD5437D9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128" y="2260021"/>
            <a:ext cx="598311" cy="598311"/>
          </a:xfrm>
          <a:prstGeom prst="rect">
            <a:avLst/>
          </a:prstGeom>
        </p:spPr>
      </p:pic>
      <p:pic>
        <p:nvPicPr>
          <p:cNvPr id="40" name="Imagen 39" descr="Archivo:Scikit learn logo small.svg - Wikipedia, la enciclopedia libre">
            <a:extLst>
              <a:ext uri="{FF2B5EF4-FFF2-40B4-BE49-F238E27FC236}">
                <a16:creationId xmlns:a16="http://schemas.microsoft.com/office/drawing/2014/main" id="{96E899B5-40CB-BE06-7CA1-D744CDD08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94" y="2940790"/>
            <a:ext cx="984380" cy="530898"/>
          </a:xfrm>
          <a:prstGeom prst="rect">
            <a:avLst/>
          </a:prstGeom>
        </p:spPr>
      </p:pic>
      <p:pic>
        <p:nvPicPr>
          <p:cNvPr id="41" name="Imagen 40" descr="Logo-design idea. · Issue #831 · shap/shap">
            <a:extLst>
              <a:ext uri="{FF2B5EF4-FFF2-40B4-BE49-F238E27FC236}">
                <a16:creationId xmlns:a16="http://schemas.microsoft.com/office/drawing/2014/main" id="{40911CC0-6AB6-5538-77AF-83DF32A22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151" y="3660491"/>
            <a:ext cx="1029323" cy="387410"/>
          </a:xfrm>
          <a:prstGeom prst="rect">
            <a:avLst/>
          </a:prstGeom>
        </p:spPr>
      </p:pic>
      <p:pic>
        <p:nvPicPr>
          <p:cNvPr id="43" name="Imagen 42" descr="Git and GitHub for Undergrad Engineers - Python for Undergraduate Engineers">
            <a:extLst>
              <a:ext uri="{FF2B5EF4-FFF2-40B4-BE49-F238E27FC236}">
                <a16:creationId xmlns:a16="http://schemas.microsoft.com/office/drawing/2014/main" id="{AF2FD0AF-3055-A50F-E538-6B83D32B34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867" y="4292362"/>
            <a:ext cx="1482510" cy="412690"/>
          </a:xfrm>
          <a:prstGeom prst="rect">
            <a:avLst/>
          </a:prstGeom>
        </p:spPr>
      </p:pic>
      <p:pic>
        <p:nvPicPr>
          <p:cNvPr id="46" name="Imagen 45" descr="File:Pandas logo.svg - Wikimedia Commons">
            <a:extLst>
              <a:ext uri="{FF2B5EF4-FFF2-40B4-BE49-F238E27FC236}">
                <a16:creationId xmlns:a16="http://schemas.microsoft.com/office/drawing/2014/main" id="{36F35CEE-7078-7A8D-F891-5C56BE185E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9569" y="2308314"/>
            <a:ext cx="1060579" cy="430860"/>
          </a:xfrm>
          <a:prstGeom prst="rect">
            <a:avLst/>
          </a:prstGeom>
        </p:spPr>
      </p:pic>
      <p:pic>
        <p:nvPicPr>
          <p:cNvPr id="47" name="Imagen 46" descr="Archivo:XGBoost logo.png - Wikipedia, la enciclopedia libre">
            <a:extLst>
              <a:ext uri="{FF2B5EF4-FFF2-40B4-BE49-F238E27FC236}">
                <a16:creationId xmlns:a16="http://schemas.microsoft.com/office/drawing/2014/main" id="{4BBDE296-8270-7FB7-4A61-C48D33BED2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8986" y="2950606"/>
            <a:ext cx="1001162" cy="385251"/>
          </a:xfrm>
          <a:prstGeom prst="rect">
            <a:avLst/>
          </a:prstGeom>
        </p:spPr>
      </p:pic>
      <p:pic>
        <p:nvPicPr>
          <p:cNvPr id="49" name="Imagen 48" descr="Brand • Streamlit">
            <a:extLst>
              <a:ext uri="{FF2B5EF4-FFF2-40B4-BE49-F238E27FC236}">
                <a16:creationId xmlns:a16="http://schemas.microsoft.com/office/drawing/2014/main" id="{5A2AC3D0-540D-82E1-DC74-55AB8462E8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9569" y="3664914"/>
            <a:ext cx="1108554" cy="306345"/>
          </a:xfrm>
          <a:prstGeom prst="rect">
            <a:avLst/>
          </a:prstGeom>
        </p:spPr>
      </p:pic>
      <p:pic>
        <p:nvPicPr>
          <p:cNvPr id="51" name="Imagen 50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4EEA60B5-4A6F-2354-2853-D1E5E0F68F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COMPETENCIAS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del perfil de egreso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s-CL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1920240" y="1783080"/>
            <a:ext cx="9601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830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+ pruebas de software + validación ML</a:t>
            </a:r>
            <a:endParaRPr lang="es-CL" sz="1600" b="1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00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s-CL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1920240" y="2670048"/>
            <a:ext cx="9601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6700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Gestión, requisitos y riesgos del proyecto</a:t>
            </a:r>
            <a:endParaRPr lang="es-CL" sz="1600" b="1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57016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s-CL" sz="2400" noProof="0" dirty="0"/>
          </a:p>
        </p:txBody>
      </p:sp>
      <p:sp>
        <p:nvSpPr>
          <p:cNvPr id="14" name="Shape 12"/>
          <p:cNvSpPr/>
          <p:nvPr/>
        </p:nvSpPr>
        <p:spPr>
          <a:xfrm>
            <a:off x="1920240" y="3557016"/>
            <a:ext cx="9601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557016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por capas, documentado y preparado para nuevos periodos</a:t>
            </a:r>
            <a:endParaRPr lang="es-CL" sz="1600" b="1" noProof="0" dirty="0"/>
          </a:p>
        </p:txBody>
      </p:sp>
      <p:sp>
        <p:nvSpPr>
          <p:cNvPr id="16" name="Shape 14"/>
          <p:cNvSpPr/>
          <p:nvPr/>
        </p:nvSpPr>
        <p:spPr>
          <a:xfrm>
            <a:off x="640080" y="4443984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439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s-CL" sz="2400" noProof="0" dirty="0"/>
          </a:p>
        </p:txBody>
      </p:sp>
      <p:sp>
        <p:nvSpPr>
          <p:cNvPr id="18" name="Shape 16"/>
          <p:cNvSpPr/>
          <p:nvPr/>
        </p:nvSpPr>
        <p:spPr>
          <a:xfrm>
            <a:off x="1920240" y="4443984"/>
            <a:ext cx="9601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4443984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aplicación en </a:t>
            </a:r>
            <a:r>
              <a:rPr lang="es-CL" sz="16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s-CL" sz="1600" b="1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5A6B7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33095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s-CL" sz="2400" noProof="0" dirty="0"/>
          </a:p>
        </p:txBody>
      </p:sp>
      <p:sp>
        <p:nvSpPr>
          <p:cNvPr id="22" name="Shape 20"/>
          <p:cNvSpPr/>
          <p:nvPr/>
        </p:nvSpPr>
        <p:spPr>
          <a:xfrm>
            <a:off x="1920240" y="5330952"/>
            <a:ext cx="9601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533095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evidencia definida por la asignatura</a:t>
            </a:r>
            <a:endParaRPr lang="es-CL" sz="1600" b="1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s-CL" sz="1100" noProof="0" dirty="0"/>
          </a:p>
        </p:txBody>
      </p:sp>
      <p:pic>
        <p:nvPicPr>
          <p:cNvPr id="26" name="Imagen 25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444D3DA7-CCE8-1B62-52C7-AEB84BC50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RIESGOS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y mitigación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1993392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836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excesivo</a:t>
            </a:r>
            <a:endParaRPr lang="es-CL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MVP claramente definido</a:t>
            </a:r>
            <a:endParaRPr lang="es-CL" sz="1400" b="1" noProof="0" dirty="0">
              <a:solidFill>
                <a:srgbClr val="00B05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6428232" y="1993392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8836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Interpretaciones causales indebidas</a:t>
            </a:r>
            <a:endParaRPr lang="es-CL" sz="16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286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Lenguaje de asociación + limitaciones</a:t>
            </a:r>
            <a:endParaRPr lang="es-CL" sz="1400" b="1" noProof="0" dirty="0">
              <a:solidFill>
                <a:srgbClr val="00B05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896112" y="3191256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815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/ datos incompletos</a:t>
            </a:r>
            <a:endParaRPr lang="es-CL" sz="16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838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Validación y declaración de limitaciones</a:t>
            </a:r>
            <a:endParaRPr lang="es-CL" sz="1400" b="1" noProof="0" dirty="0">
              <a:solidFill>
                <a:srgbClr val="00B05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2935224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/>
          <p:cNvSpPr/>
          <p:nvPr/>
        </p:nvSpPr>
        <p:spPr>
          <a:xfrm>
            <a:off x="6428232" y="3191256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0815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s-CL" sz="16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s-CL" sz="16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4838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Transformaciones ajustadas solo en entrenamiento/</a:t>
            </a:r>
            <a:r>
              <a:rPr lang="es-CL" sz="1400" b="1" noProof="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</a:t>
            </a:r>
            <a:endParaRPr lang="es-CL" sz="1400" b="1" noProof="0" dirty="0">
              <a:solidFill>
                <a:srgbClr val="00B05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13308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9"/>
          <p:cNvSpPr/>
          <p:nvPr/>
        </p:nvSpPr>
        <p:spPr>
          <a:xfrm>
            <a:off x="896112" y="4389120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793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tardía</a:t>
            </a:r>
            <a:endParaRPr lang="es-CL" sz="16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817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s-CL" sz="1400" b="1" noProof="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mínimo desde la semana 7</a:t>
            </a:r>
            <a:endParaRPr lang="es-CL" sz="1400" b="1" noProof="0" dirty="0">
              <a:solidFill>
                <a:srgbClr val="00B05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413308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6428232" y="4389120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2793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</a:t>
            </a:r>
            <a:endParaRPr lang="es-CL" sz="160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6817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Eliminación de MRUN · resultados agregados</a:t>
            </a:r>
            <a:endParaRPr lang="es-CL" sz="1400" b="1" noProof="0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s-CL" sz="1100" noProof="0" dirty="0"/>
          </a:p>
        </p:txBody>
      </p:sp>
      <p:pic>
        <p:nvPicPr>
          <p:cNvPr id="30" name="Imagen 29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995BBECB-9E9F-5E36-A925-8CADA6D8F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SEGURIDAD Y MANEJO DE DATOS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Minimización, privacidad y uso responsable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926080"/>
          </a:xfrm>
          <a:prstGeom prst="roundRect">
            <a:avLst>
              <a:gd name="adj" fmla="val 1875"/>
            </a:avLst>
          </a:prstGeom>
          <a:solidFill>
            <a:srgbClr val="13294B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</a:t>
            </a:r>
            <a:endParaRPr lang="es-CL" sz="17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91440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4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MRUN solo para integración</a:t>
            </a:r>
            <a:endParaRPr lang="es-CL" sz="1400" b="1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4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 de la capa analítica</a:t>
            </a:r>
            <a:endParaRPr lang="es-CL" sz="1400" b="1" noProof="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2926080"/>
          </a:xfrm>
          <a:prstGeom prst="roundRect">
            <a:avLst>
              <a:gd name="adj" fmla="val 1875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s-CL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4709160" y="2651760"/>
            <a:ext cx="91440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L" sz="140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identificadores en el </a:t>
            </a:r>
            <a:r>
              <a:rPr lang="es-CL" sz="1400" b="1" noProof="0" dirty="0" err="1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CL" sz="140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L" sz="1400" b="1" dirty="0" err="1">
                <a:solidFill>
                  <a:schemeClr val="accent1">
                    <a:lumMod val="50000"/>
                  </a:schemeClr>
                </a:solidFill>
              </a:rPr>
              <a:t>sidebar</a:t>
            </a:r>
            <a:r>
              <a:rPr lang="es-CL" sz="1400" b="1" dirty="0">
                <a:solidFill>
                  <a:schemeClr val="accent1">
                    <a:lumMod val="50000"/>
                  </a:schemeClr>
                </a:solidFill>
              </a:rPr>
              <a:t> + tarjetas + gráfico + bloque SHAP</a:t>
            </a:r>
            <a:endParaRPr lang="es-CL" sz="1400" b="1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70916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40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agregados y sin identificadores individuales</a:t>
            </a:r>
            <a:endParaRPr lang="es-CL" sz="1400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2926080"/>
          </a:xfrm>
          <a:prstGeom prst="roundRect">
            <a:avLst>
              <a:gd name="adj" fmla="val 1875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responsable</a:t>
            </a:r>
            <a:endParaRPr lang="es-CL" sz="1700" noProof="0" dirty="0"/>
          </a:p>
        </p:txBody>
      </p:sp>
      <p:sp>
        <p:nvSpPr>
          <p:cNvPr id="16" name="Shape 14"/>
          <p:cNvSpPr/>
          <p:nvPr/>
        </p:nvSpPr>
        <p:spPr>
          <a:xfrm>
            <a:off x="8503920" y="2651760"/>
            <a:ext cx="914400" cy="0"/>
          </a:xfrm>
          <a:prstGeom prst="line">
            <a:avLst/>
          </a:prstGeom>
          <a:noFill/>
          <a:ln w="25400">
            <a:solidFill>
              <a:srgbClr val="3AA6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880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40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sobre caso ejemplo / sintético</a:t>
            </a:r>
            <a:endParaRPr lang="es-CL" sz="1400" b="1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CL" sz="140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adjudicación automática</a:t>
            </a:r>
            <a:endParaRPr lang="es-CL" sz="1400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E8F0F5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MRUN es un identificador enmascarado por MINEDUC; </a:t>
            </a:r>
            <a:r>
              <a:rPr lang="es-CL" sz="1600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excluirlo reduce el riesgo de identificación directa, sin afirmar anonimización absoluta.</a:t>
            </a:r>
            <a:endParaRPr lang="es-CL" sz="16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CL" sz="1100" noProof="0" dirty="0"/>
          </a:p>
        </p:txBody>
      </p:sp>
      <p:pic>
        <p:nvPicPr>
          <p:cNvPr id="23" name="Imagen 22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A8CBAAD5-4856-6F6E-44DB-A48379A72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  <p:pic>
        <p:nvPicPr>
          <p:cNvPr id="25" name="Imagen 24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82E1E539-8B60-DC65-79FE-64643CB8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827" y="249206"/>
            <a:ext cx="3094653" cy="773663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73C30D98-375F-F5E1-6E89-FA861670339C}"/>
              </a:ext>
            </a:extLst>
          </p:cNvPr>
          <p:cNvSpPr txBox="1"/>
          <p:nvPr/>
        </p:nvSpPr>
        <p:spPr>
          <a:xfrm>
            <a:off x="914400" y="58750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600" b="1" dirty="0">
                <a:solidFill>
                  <a:schemeClr val="accent1">
                    <a:lumMod val="50000"/>
                  </a:schemeClr>
                </a:solidFill>
              </a:rPr>
              <a:t>Ley 19.628 + Ley 21.719</a:t>
            </a:r>
            <a:r>
              <a:rPr lang="es-CL" sz="1600" dirty="0">
                <a:solidFill>
                  <a:schemeClr val="accent1">
                    <a:lumMod val="50000"/>
                  </a:schemeClr>
                </a:solidFill>
              </a:rPr>
              <a:t>, aclarando que esta última entra en vigencia el </a:t>
            </a:r>
            <a:r>
              <a:rPr lang="es-CL" sz="1600" b="1" dirty="0">
                <a:solidFill>
                  <a:schemeClr val="accent1">
                    <a:lumMod val="50000"/>
                  </a:schemeClr>
                </a:solidFill>
              </a:rPr>
              <a:t>1 de diciembre de 2026</a:t>
            </a:r>
            <a:endParaRPr lang="es-CL" sz="16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MODELO DE NEGOCIO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 / Propuesta de valor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académicos</a:t>
            </a:r>
            <a:endParaRPr lang="es-CL" sz="1400" b="1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s-CL" sz="1400" b="1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</a:t>
            </a:r>
            <a:endParaRPr lang="es-CL" sz="1400" b="1" noProof="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reproducible</a:t>
            </a:r>
            <a:endParaRPr lang="es-CL" sz="1400" b="1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sin construir análisis desde cero</a:t>
            </a:r>
            <a:endParaRPr lang="es-CL" sz="1400" b="1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11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patrones y modelos</a:t>
            </a:r>
            <a:endParaRPr lang="es-CL" sz="1400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s-CL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MINEDUC</a:t>
            </a:r>
            <a:endParaRPr lang="es-CL" sz="1400" b="1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 modelos</a:t>
            </a:r>
            <a:endParaRPr lang="es-CL" sz="1400" b="1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611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s-CL" sz="1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</a:t>
            </a:r>
            <a:r>
              <a:rPr lang="es-CL" sz="14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s-CL" sz="1400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s-CL" sz="16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mantenimiento · infraestructura mínima</a:t>
            </a:r>
            <a:endParaRPr lang="es-CL" sz="1400" b="1" noProof="0" dirty="0"/>
          </a:p>
        </p:txBody>
      </p:sp>
      <p:sp>
        <p:nvSpPr>
          <p:cNvPr id="22" name="Shape 20"/>
          <p:cNvSpPr/>
          <p:nvPr/>
        </p:nvSpPr>
        <p:spPr>
          <a:xfrm>
            <a:off x="6172200" y="45720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s-CL" sz="1400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 como producto comercial; el valor es académico, analítico y social.</a:t>
            </a:r>
            <a:endParaRPr lang="es-CL" sz="14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s-CL" sz="11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00" noProof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MOCKUP DEL DASHBOARD</a:t>
            </a:r>
            <a:endParaRPr lang="es-CL" sz="1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verá la plataforma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3931920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190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1078992" y="169164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1335024" y="169164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analítica FUAS · </a:t>
            </a:r>
            <a:r>
              <a:rPr lang="es-CL" sz="1100" noProof="0" dirty="0" err="1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s-CL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2377440" cy="3246120"/>
          </a:xfrm>
          <a:prstGeom prst="roundRect">
            <a:avLst>
              <a:gd name="adj" fmla="val 1154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kern="0" spc="100" noProof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s-CL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960120" y="26060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</a:t>
            </a:r>
            <a:endParaRPr lang="es-CL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960120" y="31546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endParaRPr lang="es-CL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960120" y="37033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03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s-CL" sz="1150" noProof="0" dirty="0"/>
          </a:p>
        </p:txBody>
      </p:sp>
      <p:sp>
        <p:nvSpPr>
          <p:cNvPr id="18" name="Shape 16"/>
          <p:cNvSpPr/>
          <p:nvPr/>
        </p:nvSpPr>
        <p:spPr>
          <a:xfrm>
            <a:off x="960120" y="42519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251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s-CL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960120" y="48006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800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endParaRPr lang="es-CL" sz="1150" noProof="0" dirty="0"/>
          </a:p>
        </p:txBody>
      </p:sp>
      <p:sp>
        <p:nvSpPr>
          <p:cNvPr id="22" name="Shape 20"/>
          <p:cNvSpPr/>
          <p:nvPr/>
        </p:nvSpPr>
        <p:spPr>
          <a:xfrm>
            <a:off x="3383280" y="21031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s-CL" sz="1150" noProof="0" dirty="0"/>
          </a:p>
        </p:txBody>
      </p:sp>
      <p:sp>
        <p:nvSpPr>
          <p:cNvPr id="24" name="Shape 22"/>
          <p:cNvSpPr/>
          <p:nvPr/>
        </p:nvSpPr>
        <p:spPr>
          <a:xfrm>
            <a:off x="5212080" y="21031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endParaRPr lang="es-CL" sz="1150" noProof="0" dirty="0"/>
          </a:p>
        </p:txBody>
      </p:sp>
      <p:sp>
        <p:nvSpPr>
          <p:cNvPr id="26" name="Shape 24"/>
          <p:cNvSpPr/>
          <p:nvPr/>
        </p:nvSpPr>
        <p:spPr>
          <a:xfrm>
            <a:off x="7040880" y="21031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s-CL" sz="1150" noProof="0" dirty="0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E4E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5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s-CL" sz="1150" noProof="0" dirty="0"/>
          </a:p>
        </p:txBody>
      </p:sp>
      <p:sp>
        <p:nvSpPr>
          <p:cNvPr id="30" name="Shape 28"/>
          <p:cNvSpPr/>
          <p:nvPr/>
        </p:nvSpPr>
        <p:spPr>
          <a:xfrm>
            <a:off x="3383280" y="26974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9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44,06%</a:t>
            </a:r>
            <a:endParaRPr lang="es-CL" sz="1900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3227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beneficio</a:t>
            </a:r>
            <a:endParaRPr lang="es-CL" sz="1000" noProof="0" dirty="0"/>
          </a:p>
        </p:txBody>
      </p:sp>
      <p:sp>
        <p:nvSpPr>
          <p:cNvPr id="33" name="Shape 31"/>
          <p:cNvSpPr/>
          <p:nvPr/>
        </p:nvSpPr>
        <p:spPr>
          <a:xfrm>
            <a:off x="5166360" y="26974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9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641.591</a:t>
            </a:r>
            <a:endParaRPr lang="es-CL" sz="19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3227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postulantes</a:t>
            </a:r>
            <a:endParaRPr lang="es-CL" sz="1000" noProof="0" dirty="0"/>
          </a:p>
        </p:txBody>
      </p:sp>
      <p:sp>
        <p:nvSpPr>
          <p:cNvPr id="36" name="Shape 34"/>
          <p:cNvSpPr/>
          <p:nvPr/>
        </p:nvSpPr>
        <p:spPr>
          <a:xfrm>
            <a:off x="6949440" y="26974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900" b="1" noProof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s-CL" sz="1900" noProof="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227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tasa</a:t>
            </a:r>
            <a:endParaRPr lang="es-CL" sz="1000" noProof="0" dirty="0"/>
          </a:p>
        </p:txBody>
      </p:sp>
      <p:sp>
        <p:nvSpPr>
          <p:cNvPr id="39" name="Shape 37"/>
          <p:cNvSpPr/>
          <p:nvPr/>
        </p:nvSpPr>
        <p:spPr>
          <a:xfrm>
            <a:off x="3383280" y="374904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3840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observada por quintil</a:t>
            </a:r>
            <a:endParaRPr lang="es-CL" sz="1050" noProof="0" dirty="0"/>
          </a:p>
        </p:txBody>
      </p:sp>
      <p:sp>
        <p:nvSpPr>
          <p:cNvPr id="41" name="Shape 39"/>
          <p:cNvSpPr/>
          <p:nvPr/>
        </p:nvSpPr>
        <p:spPr>
          <a:xfrm>
            <a:off x="3840480" y="4222699"/>
            <a:ext cx="640080" cy="715061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40"/>
          <p:cNvSpPr txBox="1"/>
          <p:nvPr/>
        </p:nvSpPr>
        <p:spPr>
          <a:xfrm>
            <a:off x="3794760" y="4937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s-CL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754880" y="4510278"/>
            <a:ext cx="640080" cy="42748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Text 42"/>
          <p:cNvSpPr txBox="1"/>
          <p:nvPr/>
        </p:nvSpPr>
        <p:spPr>
          <a:xfrm>
            <a:off x="4709160" y="4937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s-CL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5669280" y="4525823"/>
            <a:ext cx="640080" cy="411937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Text 44"/>
          <p:cNvSpPr txBox="1"/>
          <p:nvPr/>
        </p:nvSpPr>
        <p:spPr>
          <a:xfrm>
            <a:off x="5623560" y="4937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s-CL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6583680" y="4758995"/>
            <a:ext cx="640080" cy="178765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46"/>
          <p:cNvSpPr txBox="1"/>
          <p:nvPr/>
        </p:nvSpPr>
        <p:spPr>
          <a:xfrm>
            <a:off x="6537960" y="4937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s-CL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7498080" y="4906670"/>
            <a:ext cx="640080" cy="3109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Text 48"/>
          <p:cNvSpPr txBox="1"/>
          <p:nvPr/>
        </p:nvSpPr>
        <p:spPr>
          <a:xfrm>
            <a:off x="7452360" y="4937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s-CL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8823960" y="37490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Text 50"/>
          <p:cNvSpPr txBox="1"/>
          <p:nvPr/>
        </p:nvSpPr>
        <p:spPr>
          <a:xfrm>
            <a:off x="900684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b="1" noProof="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variables</a:t>
            </a:r>
            <a:endParaRPr lang="es-CL" sz="1050" noProof="0" dirty="0"/>
          </a:p>
        </p:txBody>
      </p:sp>
      <p:sp>
        <p:nvSpPr>
          <p:cNvPr id="53" name="Shape 51"/>
          <p:cNvSpPr/>
          <p:nvPr/>
        </p:nvSpPr>
        <p:spPr>
          <a:xfrm>
            <a:off x="9006840" y="4160520"/>
            <a:ext cx="1604772" cy="13716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Shape 52"/>
          <p:cNvSpPr/>
          <p:nvPr/>
        </p:nvSpPr>
        <p:spPr>
          <a:xfrm>
            <a:off x="9006840" y="4379976"/>
            <a:ext cx="1248156" cy="137160"/>
          </a:xfrm>
          <a:prstGeom prst="rect">
            <a:avLst/>
          </a:prstGeom>
          <a:solidFill>
            <a:srgbClr val="3AA6A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5" name="Shape 53"/>
          <p:cNvSpPr/>
          <p:nvPr/>
        </p:nvSpPr>
        <p:spPr>
          <a:xfrm>
            <a:off x="9006840" y="4599432"/>
            <a:ext cx="891540" cy="13716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6" name="Shape 54"/>
          <p:cNvSpPr/>
          <p:nvPr/>
        </p:nvSpPr>
        <p:spPr>
          <a:xfrm>
            <a:off x="9006840" y="4818888"/>
            <a:ext cx="624078" cy="137160"/>
          </a:xfrm>
          <a:prstGeom prst="rect">
            <a:avLst/>
          </a:prstGeom>
          <a:solidFill>
            <a:srgbClr val="3AA6A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i="1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conceptual — implementación planificada para Fase 2.</a:t>
            </a:r>
            <a:endParaRPr lang="es-CL" sz="1200" noProof="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s-CL" sz="1100" noProof="0" dirty="0"/>
          </a:p>
        </p:txBody>
      </p:sp>
      <p:pic>
        <p:nvPicPr>
          <p:cNvPr id="60" name="Imagen 59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1B5F7EE8-E16C-87FC-348C-4C003B56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C3A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CONCLUSIÓN</a:t>
            </a:r>
            <a:endParaRPr lang="es-CL" sz="1600" noProof="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CL" sz="22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173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6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un prototipo existente:  </a:t>
            </a:r>
            <a:r>
              <a:rPr lang="es-CL" sz="16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previa real, con datos y resultados.</a:t>
            </a:r>
            <a:endParaRPr lang="es-CL" sz="165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CL" sz="2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87168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6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sus debilidades:  </a:t>
            </a:r>
            <a:r>
              <a:rPr lang="es-CL" sz="16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el prototipo en software reproducible y verificable.</a:t>
            </a:r>
            <a:endParaRPr lang="es-CL" sz="165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02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CL" sz="22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57016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6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una plataforma analítica:  </a:t>
            </a:r>
            <a:r>
              <a:rPr lang="es-CL" sz="1650" noProof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ETL, perfiles, modelos, explicabilidad y pruebas.</a:t>
            </a:r>
            <a:endParaRPr lang="es-CL" sz="16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9204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s-CL" sz="1800" b="1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 del </a:t>
            </a:r>
            <a:r>
              <a:rPr lang="es-CL" sz="1800" b="1" i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r>
              <a:rPr lang="es-CL" sz="1800" b="1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 es entrenar más modelos, sino transformar un análisis previo en una solución informática reproducible, verificable y metodológicamente defendible.</a:t>
            </a:r>
            <a:endParaRPr lang="es-CL" sz="18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100" noProof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s-CL" sz="1100" noProof="0" dirty="0"/>
          </a:p>
        </p:txBody>
      </p:sp>
      <p:pic>
        <p:nvPicPr>
          <p:cNvPr id="17" name="Imagen 16" descr="EscuelaIT Duoc UC - Escuela de Informática y Telecomunicaciones Duoc UC en Duoc  UC | LinkedIn">
            <a:extLst>
              <a:ext uri="{FF2B5EF4-FFF2-40B4-BE49-F238E27FC236}">
                <a16:creationId xmlns:a16="http://schemas.microsoft.com/office/drawing/2014/main" id="{D78C0718-A2EF-8DB0-2B25-C9BE67750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427" y="96806"/>
            <a:ext cx="3094653" cy="773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1516</Words>
  <Application>Microsoft Office PowerPoint</Application>
  <PresentationFormat>Panorámica</PresentationFormat>
  <Paragraphs>263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aravena celis</cp:lastModifiedBy>
  <cp:revision>16</cp:revision>
  <dcterms:created xsi:type="dcterms:W3CDTF">2026-08-29T01:32:13Z</dcterms:created>
  <dcterms:modified xsi:type="dcterms:W3CDTF">2026-09-02T15:44:28Z</dcterms:modified>
</cp:coreProperties>
</file>